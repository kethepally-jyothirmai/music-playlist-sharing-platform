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457200"/>
            <a:ext cx="3931920" cy="3931920"/>
          </a:xfrm>
          <a:prstGeom prst="ellipse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274320"/>
            <a:ext cx="2468880" cy="2468880"/>
          </a:xfrm>
          <a:prstGeom prst="ellipse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868680"/>
            <a:ext cx="1280160" cy="128016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42448" y="1298448"/>
            <a:ext cx="420624" cy="420624"/>
          </a:xfrm>
          <a:prstGeom prst="ellipse">
            <a:avLst/>
          </a:prstGeom>
          <a:solidFill>
            <a:srgbClr val="0C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06640" y="3520439"/>
            <a:ext cx="109728" cy="36576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17536" y="3337560"/>
            <a:ext cx="109728" cy="73152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3177539"/>
            <a:ext cx="109728" cy="105156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39327" y="3451860"/>
            <a:ext cx="109728" cy="5029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50224" y="2994660"/>
            <a:ext cx="109728" cy="141732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3314700"/>
            <a:ext cx="109728" cy="77724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72016" y="3131820"/>
            <a:ext cx="109728" cy="11430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3474720"/>
            <a:ext cx="109728" cy="45720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93808" y="3268979"/>
            <a:ext cx="109728" cy="86868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04704" y="3040379"/>
            <a:ext cx="109728" cy="13258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0" y="3406139"/>
            <a:ext cx="109728" cy="59436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26496" y="3223260"/>
            <a:ext cx="109728" cy="960120"/>
          </a:xfrm>
          <a:prstGeom prst="round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85800"/>
            <a:ext cx="4114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2D3BE"/>
                </a:solidFill>
                <a:latin typeface="Aptos"/>
              </a:rPr>
              <a:t>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234440"/>
            <a:ext cx="658368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5F8FC"/>
                </a:solidFill>
                <a:latin typeface="Aptos"/>
              </a:rPr>
              <a:t>RaagaWave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67712"/>
            <a:ext cx="603504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A8F5DC"/>
                </a:solidFill>
                <a:latin typeface="Aptos"/>
              </a:rPr>
              <a:t>Music Playlist
Sharing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58521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AEBCCF"/>
                </a:solidFill>
                <a:latin typeface="Aptos"/>
              </a:rPr>
              <a:t>Discover • Play • Curate • Share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63440"/>
            <a:ext cx="5943600" cy="96012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828032"/>
            <a:ext cx="4114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KETHEPALLLYJYOTHIRMAI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16636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Roll No: 25MVCSER0213   |   Branch: CSE(C)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7680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A MERN-stack concept for a more personal, shareable music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01 •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The problem—and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Make music discovery, organisation and sharing feel like one connected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93008" cy="15087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93976"/>
            <a:ext cx="50292" cy="125272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Scattered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32888"/>
            <a:ext cx="3108960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Finding songs across languages and artists can take extra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65960"/>
            <a:ext cx="3493008" cy="15087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2093976"/>
            <a:ext cx="50292" cy="125272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Hard-to-manage favourites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32888"/>
            <a:ext cx="3108960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Users need a simple place to organise liked songs and themed collections.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493008" cy="15087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93976"/>
            <a:ext cx="50292" cy="1252728"/>
          </a:xfrm>
          <a:prstGeom prst="rect">
            <a:avLst/>
          </a:prstGeom>
          <a:solidFill>
            <a:srgbClr val="4D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Sharing friction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32888"/>
            <a:ext cx="3108960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Playlists for trips, study or celebrations should be easy to share.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10744200" cy="1325880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133087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2D3BE"/>
                </a:solidFill>
                <a:latin typeface="Aptos"/>
              </a:rPr>
              <a:t>OUR SOLUTION  |  RAAGAWAVE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480560"/>
            <a:ext cx="99669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A user-friendly platform to search by song, language or artist; save favourites; create playlists; and share them using supported music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02 •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Objectives mapped to user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Every objective becomes a practical feature in the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3852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2D3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9397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Search 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Find tracks by title.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3852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9F4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9397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Explore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5117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Filter Telugu, Hindi, Tamil, English and more.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93852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4D93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09397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Find artists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5117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Browse tracks by favourite singers.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3016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50D29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8561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Personal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4281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Like songs and revisit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63016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794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2D3BE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78561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Playlists &amp;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24281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Create, manage and share collections.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30168"/>
            <a:ext cx="3520440" cy="1389888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794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9F43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85616"/>
            <a:ext cx="246888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Playback &amp; lyrics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242816"/>
            <a:ext cx="30175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Use authorised playback and permitted lyric sources.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03 •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 simple journey from search to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Designed to keep the most important actions clear and easy to find.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965960" cy="18288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2130552"/>
            <a:ext cx="640080" cy="64008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3042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62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44368"/>
            <a:ext cx="16459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64992"/>
            <a:ext cx="16459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EBCCF"/>
                </a:solidFill>
                <a:latin typeface="Aptos"/>
              </a:rPr>
              <a:t>Open a personal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3017520"/>
            <a:ext cx="3108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2423160"/>
            <a:ext cx="1965960" cy="18288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2130552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3042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62A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944368"/>
            <a:ext cx="16459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364992"/>
            <a:ext cx="16459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EBCCF"/>
                </a:solidFill>
                <a:latin typeface="Aptos"/>
              </a:rPr>
              <a:t>Search and filter tracks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017520"/>
            <a:ext cx="3108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423160"/>
            <a:ext cx="1965960" cy="18288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16168" y="2130552"/>
            <a:ext cx="640080" cy="64008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23042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62A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944368"/>
            <a:ext cx="16459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3364992"/>
            <a:ext cx="16459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EBCCF"/>
                </a:solidFill>
                <a:latin typeface="Aptos"/>
              </a:rPr>
              <a:t>Like songs or add to playlists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3017520"/>
            <a:ext cx="3108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19" y="2423160"/>
            <a:ext cx="1965960" cy="18288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47888" y="2130552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3042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62A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1" y="2944368"/>
            <a:ext cx="16459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Curate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1" y="3364992"/>
            <a:ext cx="16459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EBCCF"/>
                </a:solidFill>
                <a:latin typeface="Aptos"/>
              </a:rPr>
              <a:t>Organise a collection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1" y="3017520"/>
            <a:ext cx="310896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2423160"/>
            <a:ext cx="1965960" cy="18288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79608" y="2130552"/>
            <a:ext cx="640080" cy="64008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9608" y="23042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C162A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2944368"/>
            <a:ext cx="16459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Share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3364992"/>
            <a:ext cx="16459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EBCCF"/>
                </a:solidFill>
                <a:latin typeface="Aptos"/>
              </a:rPr>
              <a:t>Copy a playlist link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800600"/>
            <a:ext cx="10515600" cy="731520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A8F5DC"/>
                </a:solidFill>
                <a:latin typeface="Aptos"/>
              </a:rPr>
              <a:t>Example: create “My Telugu Favourites”, add tracks, then share the playlist link.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04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MERN stack + authorised music provider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The app manages playlists and user data; the provider handles licensed music playback.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331720" cy="11430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2331720" cy="6400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21488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REACT.JS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21488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Frontend • Search •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423160" cy="11430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240280"/>
            <a:ext cx="2423160" cy="640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224027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NODE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07792"/>
            <a:ext cx="224027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REST APIs •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240280"/>
            <a:ext cx="2103120" cy="11430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240280"/>
            <a:ext cx="2103120" cy="64008"/>
          </a:xfrm>
          <a:prstGeom prst="rect">
            <a:avLst/>
          </a:prstGeom>
          <a:solidFill>
            <a:srgbClr val="4D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19202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07792"/>
            <a:ext cx="19202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Users • Likes • Playlists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40280"/>
            <a:ext cx="2331720" cy="114300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240280"/>
            <a:ext cx="2331720" cy="64008"/>
          </a:xfrm>
          <a:prstGeom prst="rect">
            <a:avLst/>
          </a:prstGeom>
          <a:solidFill>
            <a:srgbClr val="50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514600"/>
            <a:ext cx="21488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8FC"/>
                </a:solidFill>
                <a:latin typeface="Aptos"/>
              </a:rPr>
              <a:t>MUSIC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07792"/>
            <a:ext cx="21488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Catalogue • Playback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2633472"/>
            <a:ext cx="457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2633472"/>
            <a:ext cx="457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633472"/>
            <a:ext cx="45720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69080"/>
            <a:ext cx="4892040" cy="109728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197096"/>
            <a:ext cx="50292" cy="841247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233672"/>
            <a:ext cx="450799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Security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636008"/>
            <a:ext cx="450799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OAuth, secure tokens, protected API routes and ownership checks.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069080"/>
            <a:ext cx="4892040" cy="109728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197096"/>
            <a:ext cx="50292" cy="841247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233672"/>
            <a:ext cx="450799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Data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636008"/>
            <a:ext cx="4507992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EBCCF"/>
                </a:solidFill>
                <a:latin typeface="Aptos"/>
              </a:rPr>
              <a:t>React sends requests → Express validates → MongoDB stores/retrieves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577840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EBCCF"/>
                </a:solidFill>
                <a:latin typeface="Aptos"/>
              </a:rPr>
              <a:t>Never expose private provider secrets in frontend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05 • DATA &amp;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How the platform manages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MongoDB stores application records; Express APIs implement CRUD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383280" cy="123444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93976"/>
            <a:ext cx="50292" cy="97840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2999232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Profile and securely hashed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383280" cy="123444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93976"/>
            <a:ext cx="50292" cy="9784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Playlist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32888"/>
            <a:ext cx="2999232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Title, owner, track references and creation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383280" cy="123444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93976"/>
            <a:ext cx="50292" cy="978408"/>
          </a:xfrm>
          <a:prstGeom prst="rect">
            <a:avLst/>
          </a:prstGeom>
          <a:solidFill>
            <a:srgbClr val="4D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Liked songs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32888"/>
            <a:ext cx="2999232" cy="5760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User ID, provider track ID and saved 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5166360" cy="658368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858768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40480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POST /api/playlists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5876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EBCCF"/>
                </a:solidFill>
                <a:latin typeface="Aptos"/>
              </a:rPr>
              <a:t>Create a playlist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657600"/>
            <a:ext cx="5166360" cy="658368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858768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D93FF"/>
                </a:solidFill>
                <a:latin typeface="Aptos"/>
              </a:rPr>
              <a:t>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840480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GET /api/playlists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385876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EBCCF"/>
                </a:solidFill>
                <a:latin typeface="Aptos"/>
              </a:rPr>
              <a:t>View saved playlists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26280"/>
            <a:ext cx="5166360" cy="658368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727448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9F43"/>
                </a:solidFill>
                <a:latin typeface="Aptos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709160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PATCH /api/playlists/:id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2744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EBCCF"/>
                </a:solidFill>
                <a:latin typeface="Aptos"/>
              </a:rPr>
              <a:t>Edit playlist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4526280"/>
            <a:ext cx="5166360" cy="658368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27448"/>
            <a:ext cx="9144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7171"/>
                </a:solidFill>
                <a:latin typeface="Aptos"/>
              </a:rP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709160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DELETE /api/playlists/:id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472744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EBCCF"/>
                </a:solidFill>
                <a:latin typeface="Aptos"/>
              </a:rPr>
              <a:t>Remove a playlist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06 • AUTHORISED MUSIC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Real playback, done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Use official provider integrations instead of scraping or re-hosting commercial audio.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12080" cy="192024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93976"/>
            <a:ext cx="50292" cy="166420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48280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Spotify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4828032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EBCCF"/>
                </a:solidFill>
                <a:latin typeface="Aptos"/>
              </a:rPr>
              <a:t>• Developer app and OAuth setup
• Web Playback SDK requires Spotify Premium
• Development-mode restrictions may 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12080" cy="192024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93976"/>
            <a:ext cx="50292" cy="166420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482803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Apple Music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32888"/>
            <a:ext cx="4828032" cy="12618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EBCCF"/>
                </a:solidFill>
                <a:latin typeface="Aptos"/>
              </a:rPr>
              <a:t>• MusicKit and developer token setup
• User authorisation for personal library data
• Account/subscription requirements may apply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61320" cy="960120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72000"/>
            <a:ext cx="2057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D3BE"/>
                </a:solidFill>
                <a:latin typeface="Aptos"/>
              </a:rPr>
              <a:t>LYRICS &amp; COPYRIGHT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72000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Lyrics require a permitted API/source or licence; availability varies by provider and region.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69280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AEBCCF"/>
                </a:solidFill>
                <a:latin typeface="Aptos"/>
              </a:rPr>
              <a:t>Provider terms and access rules can change—verify them before implementation.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2D3BE"/>
                </a:solidFill>
                <a:latin typeface="Aptos"/>
              </a:rPr>
              <a:t>07 •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From concept to working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EBCCF"/>
                </a:solidFill>
                <a:latin typeface="Aptos"/>
              </a:rPr>
              <a:t>Build and validate the application in manageable stages.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85800" cy="41148"/>
          </a:xfrm>
          <a:prstGeom prst="rect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68880" cy="17373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2D3BE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1945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Aptos"/>
              </a:rPr>
              <a:t>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2103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Responsive React pages, search and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83464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2148840"/>
            <a:ext cx="2468880" cy="17373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37744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9F43"/>
                </a:solidFill>
                <a:latin typeface="Apto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761488"/>
            <a:ext cx="21945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218688"/>
            <a:ext cx="2103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Express APIs, MongoDB, CRUD and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83464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2148840"/>
            <a:ext cx="2468880" cy="17373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7744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4D93FF"/>
                </a:solidFill>
                <a:latin typeface="Aptos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761488"/>
            <a:ext cx="21945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Aptos"/>
              </a:rP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218688"/>
            <a:ext cx="2103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Provider OAuth, catalogue and playback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2834640"/>
            <a:ext cx="3200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2D3B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2148840"/>
            <a:ext cx="2468880" cy="173736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2377440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0D299"/>
                </a:solidFill>
                <a:latin typeface="Aptos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2761488"/>
            <a:ext cx="219456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Aptos"/>
              </a:rP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3218688"/>
            <a:ext cx="2103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EBCCF"/>
                </a:solidFill>
                <a:latin typeface="Aptos"/>
              </a:rPr>
              <a:t>Permissions, mobile layout, errors and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34840"/>
            <a:ext cx="10241280" cy="960120"/>
          </a:xfrm>
          <a:prstGeom prst="roundRect">
            <a:avLst/>
          </a:prstGeom>
          <a:solidFill>
            <a:srgbClr val="21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663440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2D3BE"/>
                </a:solidFill>
                <a:latin typeface="Aptos"/>
              </a:rPr>
              <a:t>SUCCESS LOOKS LIKE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645152"/>
            <a:ext cx="74066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Users can securely save playlists, retrieve them later and open supported music through the provider.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68580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7187A3"/>
                </a:solidFill>
                <a:latin typeface="Aptos"/>
              </a:rPr>
              <a:t>RAAGAWAVE • MUSIC PLAYLIST SHARING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365760"/>
            <a:ext cx="3840480" cy="3840480"/>
          </a:xfrm>
          <a:prstGeom prst="ellipse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411480"/>
            <a:ext cx="2286000" cy="2286000"/>
          </a:xfrm>
          <a:prstGeom prst="ellipse">
            <a:avLst/>
          </a:prstGeom>
          <a:solidFill>
            <a:srgbClr val="22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1097280"/>
            <a:ext cx="914400" cy="914400"/>
          </a:xfrm>
          <a:prstGeom prst="ellipse">
            <a:avLst/>
          </a:prstGeom>
          <a:solidFill>
            <a:srgbClr val="0C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2D3BE"/>
                </a:solidFill>
                <a:latin typeface="Aptos"/>
              </a:rPr>
              <a:t>RAAGAWAVE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7132320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5F8FC"/>
                </a:solidFill>
                <a:latin typeface="Aptos"/>
              </a:rPr>
              <a:t>Music is better
when it’s personal.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70408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AEBCCF"/>
                </a:solidFill>
                <a:latin typeface="Aptos"/>
              </a:rPr>
              <a:t>Discover new tracks. Build your own collections. Share the vibe.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4206240" cy="731520"/>
          </a:xfrm>
          <a:prstGeom prst="roundRect">
            <a:avLst/>
          </a:prstGeom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956048"/>
            <a:ext cx="3749039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A8F5DC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6035040"/>
            <a:ext cx="7132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EBCCF"/>
                </a:solidFill>
                <a:latin typeface="Aptos"/>
              </a:rPr>
              <a:t>KETHEPALLLYJYOTHIRMAI  |  25MVCSER0213  |  CSE(C)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EBCC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